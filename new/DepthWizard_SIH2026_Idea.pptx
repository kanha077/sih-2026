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Problem Statement ID – </a:t>
            </a:r>
            <a:r>
              <a:rPr sz="2200" b="1" i="0">
                <a:solidFill>
                  <a:srgbClr val="1F497D"/>
                </a:solidFill>
                <a:latin typeface="Arial"/>
              </a:rPr>
              <a:t>26175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Problem Statement Title – </a:t>
            </a:r>
            <a:r>
              <a:rPr sz="2000" b="1" i="0">
                <a:solidFill>
                  <a:srgbClr val="1F497D"/>
                </a:solidFill>
                <a:latin typeface="Arial"/>
              </a:rPr>
              <a:t>Single-View Height Estimation and Interactive 3D Flythrough from Satellite Imagery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Theme – </a:t>
            </a:r>
            <a:r>
              <a:rPr sz="2200" b="1" i="0">
                <a:solidFill>
                  <a:srgbClr val="1F497D"/>
                </a:solidFill>
                <a:latin typeface="Arial"/>
              </a:rPr>
              <a:t>Disaster Management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PS Category – </a:t>
            </a:r>
            <a:r>
              <a:rPr sz="2200" b="1" i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Team ID – </a:t>
            </a:r>
            <a:r>
              <a:rPr sz="2200" b="1" i="0">
                <a:solidFill>
                  <a:srgbClr val="C0504D"/>
                </a:solidFill>
                <a:latin typeface="Arial"/>
              </a:rPr>
              <a:t>[xxxxxxxxxx]</a:t>
            </a:r>
          </a:p>
          <a:p>
            <a:pPr marL="0" indent="0">
              <a:spcAft>
                <a:spcPts val="400"/>
              </a:spcAft>
              <a:buNone/>
            </a:pPr>
            <a:r>
              <a:rPr sz="2200" b="1" i="0">
                <a:solidFill>
                  <a:srgbClr val="1A1A1A"/>
                </a:solidFill>
                <a:latin typeface="Arial"/>
              </a:rPr>
              <a:t>Team Name – </a:t>
            </a:r>
            <a:r>
              <a:rPr sz="2200" b="1" i="0">
                <a:solidFill>
                  <a:srgbClr val="C0504D"/>
                </a:solidFill>
                <a:latin typeface="Arial"/>
              </a:rPr>
              <a:t>[Team Name (Registered on portal)]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18120" cy="1051560"/>
          </a:xfrm>
        </p:spPr>
        <p:txBody>
          <a:bodyPr wrap="square"/>
          <a:lstStyle/>
          <a:p>
            <a:pPr eaLnBrk="1" hangingPunct="1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1A1A1A"/>
                </a:solidFill>
                <a:latin typeface="Arial"/>
              </a:rPr>
              <a:t>DepthWizard: One Satellite Image → Depth → Calibrated DSM → 3D Flythrough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1138428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sz="1700" b="1" i="0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DepthWizard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— an end-to-end pipeline that converts a SINGLE optical 2D satellite/aerial image into a relative depth map (rDSM), an estimated calibrated DSM (GeoTIFF) and an explorable 3D environment.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Dual mode: non-georeferenced JPG/PNG → relative depth + 3D mesh; georeferenced GeoTIFF → CRS-preserving estimated DSM + height / slope products.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Interactive 3D world: Inspect (orbit), Free-Fly drone mode (WASD + mouse) and automatic camera flythrough.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Removes dependency on costly stereo imagery, LiDAR sensors and InSAR — useful elevation geometry from ONE image, in seconds.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Disaster response: reconstruct terrain and damage context when only a single post-event image exists.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GIS-ready: GeoTIFF outputs preserve CRS / affine transform — drop directly into QGIS, ArcGIS, GDAL.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First-of-its-kind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Fusion of Depth Anything V2 (relative geometry) + Sat3DGen (3D scene reconstruction) + GeoScale calibration layer (DSM = DEMₐₗᵢₕₙed + α·D_detail).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Never silently converts relative depth to metres — metric values only after explicit calibration vs SRTM / GCPs (scientific honesty as a feature).</a:t>
            </a:r>
          </a:p>
          <a:p>
            <a:pPr marL="155575" indent="-155575">
              <a:spcAft>
                <a:spcPts val="4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Single unified open-source workflow: one image → survey-grade workflow → immersive browser flythrough.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544068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Aft>
                <a:spcPts val="500"/>
              </a:spcAft>
              <a:buFont typeface="Arial" panose="020B0604020202020204" pitchFamily="34" charset="0"/>
              <a:buNone/>
            </a:pPr>
            <a:r>
              <a:rPr sz="150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Python 3.11 · PyTorch 2.x (AI inference)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Depth Anything V2 — monocular relative depth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Sat3DGen — satellite-image 3D reconstruction &amp; mesh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Rasterio / GDAL — GeoTIFF, CRS, affine transforms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NumPy · OpenCV · SciPy — raster processing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Three.js (WebGL) — browser 3D viewer</a:t>
            </a:r>
          </a:p>
          <a:p>
            <a:pPr marL="155575" indent="-155575">
              <a:spcAft>
                <a:spcPts val="2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FastAPI + React · Docker deployment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① Input handler — validates image, extracts CRS / bounds / transform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↓  ② Depth Anything V2 → relative depth (rDSM)  |  Sat3DGen → mesh + texture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↓  ③ GeoScale — align reference DEM (SRTM / Copernicus GLO-30), calibrate: DSM = DEM + α·detail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↓  ④ Analysis — height, slope, statistics → GeoTIFF / OBJ exports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↓  ⑤ Three.js viewer — inspect, free-fly, automatic flythrough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nput_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74519"/>
            <a:ext cx="1582615" cy="2057400"/>
          </a:xfrm>
          <a:prstGeom prst="rect">
            <a:avLst/>
          </a:prstGeom>
        </p:spPr>
      </p:pic>
      <p:pic>
        <p:nvPicPr>
          <p:cNvPr id="17412" name="Picture 17411" descr="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863" y="1874519"/>
            <a:ext cx="1582615" cy="2057400"/>
          </a:xfrm>
          <a:prstGeom prst="rect">
            <a:avLst/>
          </a:prstGeom>
        </p:spPr>
      </p:pic>
      <p:pic>
        <p:nvPicPr>
          <p:cNvPr id="17413" name="Picture 17412" descr="3d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5526" y="1874519"/>
            <a:ext cx="2098548" cy="205740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172200" y="4005072"/>
            <a:ext cx="15826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150" b="1" i="0">
                <a:solidFill>
                  <a:srgbClr val="1A1A1A"/>
                </a:solidFill>
                <a:latin typeface="Arial"/>
              </a:rPr>
              <a:t>① INPUT
2D satellite image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138863" y="4005072"/>
            <a:ext cx="15826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150" b="1" i="0">
                <a:solidFill>
                  <a:srgbClr val="1A1A1A"/>
                </a:solidFill>
                <a:latin typeface="Arial"/>
              </a:rPr>
              <a:t>② AI DEPTH
heatmap (rDSM)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105526" y="4005072"/>
            <a:ext cx="20985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150" b="1" i="0">
                <a:solidFill>
                  <a:srgbClr val="1A1A1A"/>
                </a:solidFill>
                <a:latin typeface="Arial"/>
              </a:rPr>
              <a:t>③ OUTPUT
3D terrain + flythrough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754815" y="269748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1F497D"/>
                </a:solidFill>
                <a:latin typeface="Arial"/>
              </a:rPr>
              <a:t>→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721478" y="269748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1F497D"/>
                </a:solidFill>
                <a:latin typeface="Arial"/>
              </a:rPr>
              <a:t>→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035040" y="470916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Working prototype: single-image → 3D terrain in &lt; 2 s on consumer hardware (live demo available)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234440"/>
            <a:ext cx="1138428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Working prototype already runs end-to-end: FastAPI backend + React/Three.js frontend, Dockerised one-click launch.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100% pretrained open-source models — no custom training data, no survey crews, offline-cached weights.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Full synthesis pipeline completes in &lt; 2 s on consumer hardware; automated pytest suite validates every endpoint.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Potential challenges and risks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Monocular AI depth is RELATIVE — not automatically survey-grade metric elevation.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Coarse reference DEMs (SRTM 30 m) cannot validate individual building heights.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Cloud cover, haze and occlusions degrade single-image inference; compute cost for very large scenes.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Strategies for overcoming these challenges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GeoScale calibration: DSM = DEM_aligned + α·D_detail, or Z = a·D + b regressed from GCPs / EXIF telemetry.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Explicit ‘preview’ vs ‘calibrated’ datum labelling — never silently convert relative depth to metres.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Precomputed demo outputs guarantee resilience; validation via RMSE / MAE / correlation per land-cover class.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234440"/>
            <a:ext cx="1138428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ISRO / NDMA &amp; disaster-response teams — terrain and damage context within seconds of a single post-event image, when no stereo pair or LiDAR pass exists.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Urban planners, GIS &amp; survey professionals — instant first-pass DSMs for zoning, line-of-sight and watershed analysis.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Defence &amp; infrastructure monitoring — rapid site intelligence in inaccessible or hostile terrain.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marL="0" indent="0">
              <a:spcAft>
                <a:spcPts val="5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Social: faster flood, landslide and earthquake response planning from already-acquired archived imagery.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Economic: eliminates cost of stereo flight campaigns, LiDAR sensors and multi-pass InSAR processing.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Environmental: no additional sensor missions; enables continuous low-cost monitoring of fragile ecosystems.</a:t>
            </a:r>
          </a:p>
          <a:p>
            <a:pPr marL="155575" indent="-155575">
              <a:spcAft>
                <a:spcPts val="7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Strategic: open-source, GIS/CAD-interoperable outputs (GeoTIFF · OBJ · PNG · JSON) plug into national geospatial workflows.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234440"/>
            <a:ext cx="1138428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8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Depth Anything V2 — L. Yang et al., NeurIPS 2024 — github.com/DepthAnything/Depth-Anything-V2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Sat3DGen — satellite-image-based 3D scene reconstruction &amp; mesh generation (project repository)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MiDaS — R. Ranftl et al., “Towards Robust Monocular Depth Estimation”, ECCV 2020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SRTM — T. G. Farr et al., “The Shuttle Radar Topography Mission”, Rev. Geophysics, 2007 · Copernicus GLO-30 DEM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Rasterio — rasterio.readthedocs.io · GDAL — gdal.org · NumPy / SciPy / OpenCV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Three.js — threejs.org/docs · FastAPI — fastapi.tiangolo.com · React — react.dev · Docker — docker.com</a:t>
            </a:r>
          </a:p>
          <a:p>
            <a:pPr marL="155575" indent="-155575">
              <a:spcAft>
                <a:spcPts val="10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SIH 2026 Problem Statement 26175 — ISRO · Theme: Disaster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